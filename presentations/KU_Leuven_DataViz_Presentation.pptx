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94"/>
  </p:normalViewPr>
  <p:slideViewPr>
    <p:cSldViewPr snapToGrid="0" snapToObjects="1">
      <p:cViewPr>
        <p:scale>
          <a:sx n="126" d="100"/>
          <a:sy n="126" d="100"/>
        </p:scale>
        <p:origin x="576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D3FFF9-9910-A249-BF4C-C44B1831FFAB}" type="datetimeFigureOut">
              <a:rPr lang="en-US" smtClean="0"/>
              <a:t>4/22/26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E788BD-97F7-504F-B73C-D8328E15D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3951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E788BD-97F7-504F-B73C-D8328E15D18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9405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1E407C"/>
                </a:solidFill>
                <a:latin typeface="Cambria"/>
              </a:rPr>
              <a:t>Deconstructing the Rankings</a:t>
            </a:r>
            <a:r>
              <a:rPr b="1" dirty="0">
                <a:solidFill>
                  <a:srgbClr val="1E407C"/>
                </a:solidFill>
                <a:latin typeface="Cambria"/>
              </a:rPr>
              <a:t>:</a:t>
            </a:r>
          </a:p>
          <a:p>
            <a:r>
              <a:rPr lang="en-US" dirty="0"/>
              <a:t>Visualizing Biases in Global University Rankings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717415"/>
            <a:ext cx="6400800" cy="1752600"/>
          </a:xfrm>
        </p:spPr>
        <p:txBody>
          <a:bodyPr>
            <a:normAutofit/>
          </a:bodyPr>
          <a:lstStyle/>
          <a:p>
            <a:r>
              <a:rPr sz="2400" dirty="0">
                <a:solidFill>
                  <a:srgbClr val="646464"/>
                </a:solidFill>
                <a:latin typeface="Cambria"/>
              </a:rPr>
              <a:t>Data </a:t>
            </a:r>
            <a:r>
              <a:rPr sz="2400" dirty="0" err="1">
                <a:solidFill>
                  <a:srgbClr val="646464"/>
                </a:solidFill>
                <a:latin typeface="Cambria"/>
              </a:rPr>
              <a:t>Visualisation</a:t>
            </a:r>
            <a:r>
              <a:rPr sz="2400" dirty="0">
                <a:solidFill>
                  <a:srgbClr val="646464"/>
                </a:solidFill>
                <a:latin typeface="Cambria"/>
              </a:rPr>
              <a:t> [G0R05a] - Intermediate Presentation</a:t>
            </a:r>
          </a:p>
          <a:p>
            <a:r>
              <a:rPr sz="2400" dirty="0">
                <a:solidFill>
                  <a:srgbClr val="646464"/>
                </a:solidFill>
                <a:latin typeface="Cambria"/>
              </a:rPr>
              <a:t>Team: Renlong Yin, Lei Pei, Victor Kao, </a:t>
            </a:r>
            <a:r>
              <a:rPr sz="2400" dirty="0" err="1">
                <a:solidFill>
                  <a:srgbClr val="646464"/>
                </a:solidFill>
                <a:latin typeface="Cambria"/>
              </a:rPr>
              <a:t>Szabó</a:t>
            </a:r>
            <a:r>
              <a:rPr sz="2400" dirty="0">
                <a:solidFill>
                  <a:srgbClr val="646464"/>
                </a:solidFill>
                <a:latin typeface="Cambria"/>
              </a:rPr>
              <a:t> Gergely, </a:t>
            </a:r>
            <a:r>
              <a:rPr sz="2400" dirty="0" err="1">
                <a:solidFill>
                  <a:srgbClr val="646464"/>
                </a:solidFill>
                <a:latin typeface="Cambria"/>
              </a:rPr>
              <a:t>Kawtar</a:t>
            </a:r>
            <a:r>
              <a:rPr sz="2400" dirty="0">
                <a:solidFill>
                  <a:srgbClr val="646464"/>
                </a:solidFill>
                <a:latin typeface="Cambria"/>
              </a:rPr>
              <a:t> </a:t>
            </a:r>
            <a:r>
              <a:rPr sz="2400" dirty="0" err="1">
                <a:solidFill>
                  <a:srgbClr val="646464"/>
                </a:solidFill>
                <a:latin typeface="Cambria"/>
              </a:rPr>
              <a:t>Darkaoui</a:t>
            </a:r>
            <a:r>
              <a:rPr sz="2400" dirty="0">
                <a:solidFill>
                  <a:srgbClr val="646464"/>
                </a:solidFill>
                <a:latin typeface="Cambria"/>
              </a:rPr>
              <a:t>, Deborah </a:t>
            </a:r>
            <a:r>
              <a:rPr sz="2400" dirty="0" err="1">
                <a:solidFill>
                  <a:srgbClr val="646464"/>
                </a:solidFill>
                <a:latin typeface="Cambria"/>
              </a:rPr>
              <a:t>Adelakun</a:t>
            </a:r>
            <a:endParaRPr sz="2400" dirty="0">
              <a:solidFill>
                <a:srgbClr val="646464"/>
              </a:solidFill>
              <a:latin typeface="Cambria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1E40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b="1">
                <a:solidFill>
                  <a:srgbClr val="1E407C"/>
                </a:solidFill>
                <a:latin typeface="Cambria"/>
              </a:rPr>
              <a:t>The Problem &amp; Target Audience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323232"/>
                </a:solidFill>
                <a:latin typeface="Cambria"/>
              </a:defRPr>
            </a:pPr>
            <a:r>
              <a:t>Target Audience: Prospective international Master's/PhD students.</a:t>
            </a:r>
          </a:p>
          <a:p>
            <a:pPr>
              <a:defRPr sz="2000">
                <a:solidFill>
                  <a:srgbClr val="323232"/>
                </a:solidFill>
                <a:latin typeface="Cambria"/>
              </a:defRPr>
            </a:pPr>
            <a:r>
              <a:t>The Problem: Students often rely blindly on QS Rankings, which heavily favor historical 'prestige' and established Western brands.</a:t>
            </a:r>
          </a:p>
          <a:p>
            <a:pPr>
              <a:defRPr sz="2000">
                <a:solidFill>
                  <a:srgbClr val="323232"/>
                </a:solidFill>
                <a:latin typeface="Cambria"/>
              </a:defRPr>
            </a:pPr>
            <a:r>
              <a:t>The Solution: We compare QS (Reputation) against THE (Research Output) to find the 'Hidden Gems'.</a:t>
            </a:r>
          </a:p>
          <a:p>
            <a:pPr>
              <a:defRPr sz="2000">
                <a:solidFill>
                  <a:srgbClr val="323232"/>
                </a:solidFill>
                <a:latin typeface="Cambria"/>
              </a:defRPr>
            </a:pPr>
            <a:r>
              <a:t>Goal: Help students find universities with world-class research infrastructure that are currently undervalued by general reputation.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1E40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1E407C"/>
                </a:solidFill>
                <a:latin typeface="Cambria"/>
              </a:rPr>
              <a:t>The Data 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323232"/>
                </a:solidFill>
                <a:latin typeface="Cambria"/>
              </a:defRPr>
            </a:pPr>
            <a:r>
              <a:t>Times Higher Education (THE) 2016-2026: Provides longitudinal data on research environment, quality, and industry impact.</a:t>
            </a:r>
          </a:p>
          <a:p>
            <a:pPr>
              <a:defRPr sz="2000">
                <a:solidFill>
                  <a:srgbClr val="323232"/>
                </a:solidFill>
                <a:latin typeface="Cambria"/>
              </a:defRPr>
            </a:pPr>
            <a:r>
              <a:t>QS World Rankings 2026: Provides data on Employer and Academic Reputation.</a:t>
            </a:r>
          </a:p>
          <a:p>
            <a:pPr>
              <a:defRPr sz="2000">
                <a:solidFill>
                  <a:srgbClr val="323232"/>
                </a:solidFill>
                <a:latin typeface="Cambria"/>
              </a:defRPr>
            </a:pPr>
            <a:r>
              <a:t>World Bank Open Data API: Live GDP and economic data to analyze the socio-economic drivers of ranking success.</a:t>
            </a:r>
          </a:p>
          <a:p>
            <a:pPr>
              <a:defRPr sz="2000">
                <a:solidFill>
                  <a:srgbClr val="323232"/>
                </a:solidFill>
                <a:latin typeface="Cambria"/>
              </a:defRPr>
            </a:pPr>
            <a:r>
              <a:t>Data Feasibility: We are utilizing robust Kaggle datasets and official APIs rather than scraping, ensuring high data reliability.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1E40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b="1" dirty="0">
                <a:solidFill>
                  <a:srgbClr val="1E407C"/>
                </a:solidFill>
                <a:latin typeface="Cambria"/>
              </a:rPr>
              <a:t>Proof of Concept: Methodology Clash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2903" y="1555116"/>
            <a:ext cx="2742217" cy="5099684"/>
          </a:xfrm>
        </p:spPr>
        <p:txBody>
          <a:bodyPr>
            <a:normAutofit fontScale="92500"/>
          </a:bodyPr>
          <a:lstStyle/>
          <a:p>
            <a:pPr>
              <a:defRPr sz="2000">
                <a:solidFill>
                  <a:srgbClr val="323232"/>
                </a:solidFill>
                <a:latin typeface="Cambria"/>
              </a:defRPr>
            </a:pPr>
            <a:r>
              <a:rPr dirty="0"/>
              <a:t>Our initial data exploration confirms our hypothesis.</a:t>
            </a:r>
          </a:p>
          <a:p>
            <a:pPr>
              <a:defRPr sz="2000">
                <a:solidFill>
                  <a:srgbClr val="323232"/>
                </a:solidFill>
                <a:latin typeface="Cambria"/>
              </a:defRPr>
            </a:pPr>
            <a:r>
              <a:rPr dirty="0"/>
              <a:t>We identified a massive 'Prestige vs. Performance' gap.</a:t>
            </a:r>
          </a:p>
          <a:p>
            <a:pPr>
              <a:defRPr sz="2000">
                <a:solidFill>
                  <a:srgbClr val="323232"/>
                </a:solidFill>
                <a:latin typeface="Cambria"/>
              </a:defRPr>
            </a:pPr>
            <a:r>
              <a:rPr dirty="0"/>
              <a:t>A dense cluster of Asian and European technical universities show elite 'Industry Impact' (THE) but very poor 'Employer Reputation' (QS).</a:t>
            </a:r>
          </a:p>
          <a:p>
            <a:pPr>
              <a:defRPr sz="2000">
                <a:solidFill>
                  <a:srgbClr val="323232"/>
                </a:solidFill>
                <a:latin typeface="Cambria"/>
              </a:defRPr>
            </a:pPr>
            <a:r>
              <a:rPr dirty="0"/>
              <a:t>--&gt; See graph to the right.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0898797-6C9E-91FE-D64A-8F8F76A47CE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2895600" y="1555116"/>
            <a:ext cx="5934412" cy="3951604"/>
          </a:xfrm>
        </p:spPr>
      </p:pic>
      <p:sp>
        <p:nvSpPr>
          <p:cNvPr id="5" name="Rectangle 4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1E40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b="1" dirty="0">
                <a:solidFill>
                  <a:srgbClr val="1E407C"/>
                </a:solidFill>
                <a:latin typeface="Cambria"/>
              </a:rPr>
              <a:t>Our Planned Interactive Web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82880" y="1600200"/>
            <a:ext cx="3190240" cy="4983162"/>
          </a:xfrm>
        </p:spPr>
        <p:txBody>
          <a:bodyPr>
            <a:normAutofit fontScale="92500" lnSpcReduction="20000"/>
          </a:bodyPr>
          <a:lstStyle/>
          <a:p>
            <a:pPr>
              <a:defRPr sz="2000">
                <a:solidFill>
                  <a:srgbClr val="323232"/>
                </a:solidFill>
                <a:latin typeface="Cambria"/>
              </a:defRPr>
            </a:pPr>
            <a:r>
              <a:rPr lang="en-US" dirty="0"/>
              <a:t> Data Augmentation: We integrated live World Bank API data to compare a country's wealth against its median university rank.,</a:t>
            </a:r>
          </a:p>
          <a:p>
            <a:pPr>
              <a:defRPr sz="2000">
                <a:solidFill>
                  <a:srgbClr val="323232"/>
                </a:solidFill>
                <a:latin typeface="Cambria"/>
              </a:defRPr>
            </a:pPr>
            <a:r>
              <a:rPr lang="en-US" dirty="0"/>
              <a:t>    General Trend: National wealth strongly correlates with elite academic performance (e.g., US, Switzerland, Singapore).,</a:t>
            </a:r>
          </a:p>
          <a:p>
            <a:pPr>
              <a:defRPr sz="2000">
                <a:solidFill>
                  <a:srgbClr val="323232"/>
                </a:solidFill>
                <a:latin typeface="Cambria"/>
              </a:defRPr>
            </a:pPr>
            <a:r>
              <a:rPr lang="en-US" dirty="0"/>
              <a:t>    Key Insight: China is a massive outlier. It achieves top-tier rankings despite a significantly lower GDP per capita than its Western rivals.,</a:t>
            </a:r>
          </a:p>
          <a:p>
            <a:pPr>
              <a:defRPr sz="2000">
                <a:solidFill>
                  <a:srgbClr val="323232"/>
                </a:solidFill>
                <a:latin typeface="Cambria"/>
              </a:defRPr>
            </a:pPr>
            <a:r>
              <a:rPr lang="en-US" dirty="0"/>
              <a:t> --&gt; See graph to the right.</a:t>
            </a:r>
            <a:endParaRPr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751C48D-076C-140B-210D-A5C49AA584C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3413193" y="1935480"/>
            <a:ext cx="5547927" cy="3724942"/>
          </a:xfrm>
        </p:spPr>
      </p:pic>
      <p:sp>
        <p:nvSpPr>
          <p:cNvPr id="5" name="Rectangle 4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1E40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1E407C"/>
                </a:solidFill>
                <a:latin typeface="Cambria"/>
              </a:rPr>
              <a:t>Questions for Feedback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323232"/>
                </a:solidFill>
                <a:latin typeface="Cambria"/>
              </a:defRPr>
            </a:pPr>
            <a:r>
              <a:t>1. Visual Clutter: Our dataset has over 800 universities. To avoid violating Gestalt principles in our Scatter Plot, do you recommend semantic zooming or forcing the user to filter by region first?</a:t>
            </a:r>
          </a:p>
          <a:p>
            <a:pPr>
              <a:defRPr sz="2000">
                <a:solidFill>
                  <a:srgbClr val="323232"/>
                </a:solidFill>
                <a:latin typeface="Cambria"/>
              </a:defRPr>
            </a:pPr>
            <a:r>
              <a:t>2. Narrative Flow: Since we pivoted to a student-focused narrative, would a 'Scrollytelling' approach be better than a static dashboard?</a:t>
            </a:r>
          </a:p>
          <a:p>
            <a:pPr>
              <a:defRPr sz="2000">
                <a:solidFill>
                  <a:srgbClr val="323232"/>
                </a:solidFill>
                <a:latin typeface="Cambria"/>
              </a:defRPr>
            </a:pPr>
            <a:r>
              <a:t>3. Encodings: What is the best way to visually encode the 'Gap' between a university's QS rank and THE rank?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1E40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423</Words>
  <Application>Microsoft Macintosh PowerPoint</Application>
  <PresentationFormat>On-screen Show (4:3)</PresentationFormat>
  <Paragraphs>29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Cambria</vt:lpstr>
      <vt:lpstr>Office Theme</vt:lpstr>
      <vt:lpstr>Deconstructing the Rankings: Visualizing Biases in Global University Rankings</vt:lpstr>
      <vt:lpstr>The Problem &amp; Target Audience</vt:lpstr>
      <vt:lpstr>The Data Sources</vt:lpstr>
      <vt:lpstr>Proof of Concept: Methodology Clash</vt:lpstr>
      <vt:lpstr>Our Planned Interactive Web Dashboard</vt:lpstr>
      <vt:lpstr>Questions for Feedback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Beyond the Brand: A Data-Driven Guide to Finding Hidden Gems in Global Universities</dc:title>
  <dc:subject/>
  <dc:creator/>
  <cp:keywords/>
  <dc:description>generated using python-pptx</dc:description>
  <cp:lastModifiedBy>Editor</cp:lastModifiedBy>
  <cp:revision>12</cp:revision>
  <dcterms:created xsi:type="dcterms:W3CDTF">2013-01-27T09:14:16Z</dcterms:created>
  <dcterms:modified xsi:type="dcterms:W3CDTF">2026-04-22T00:55:38Z</dcterms:modified>
  <cp:category/>
</cp:coreProperties>
</file>